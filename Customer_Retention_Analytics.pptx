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21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42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Mention this is an end-to-end customer analytics project combining Python preprocessing and feature engineering, SQL querying, EDA, and Power BI dashboarding.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business problem: understanding which customers to retain, how to engage them, and what strategies to use per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3,900 customer records across 30 features covering demographics, purchases, behaviour, payment preferences and derived analytics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cleaning was minimal due to high dataset quality. Key steps included median imputation for ratings, label standardisation for frequency fields, and MinMax normalisation before composite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core features engineered: Frequency Score, Loyalty Score V1, Loyalty Band, Promo Dependency Level, Customer Value Score, Value Tier, and Customer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confirms: even tier distribution, majority non-promo-dependent customers, and a clear VIP spending premium. These charts directly inform retention strategy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 was used for structured business queries. 12 queries executed covering: total counts, revenue aggregations, segment distributions, average spend, and loyalty band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BI dashboard consolidates all KPIs on a single page with slicers for Customer Segment filtering. Charts are interactive and update when segments are selected.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key insights synthesised from the full analytical pipeline. Highlights: Bargain Hunters dominate count; VIP Loyalists dominate value; Clothing leads revenue; organic buyers are the majority.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distinct playbooks: VIP retention through exclusivity, Growth customers through upsell programmes, Bargain Hunters through promo reduction strategies, Low Engagement through win-back campaigns.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The project successfully built an end-to-end customer analytics pipeline. Key business recommendations include exclusive programmes for VIPs, upsell for Growth customers, promo reduction for Bargain Hunters, and win-back for Low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754880"/>
            <a:ext cx="2743200" cy="2743200"/>
          </a:xfrm>
          <a:prstGeom prst="ellipse">
            <a:avLst/>
          </a:prstGeom>
          <a:solidFill>
            <a:srgbClr val="14BDBD">
              <a:alpha val="20000"/>
            </a:srgbClr>
          </a:solidFill>
          <a:ln w="12700">
            <a:solidFill>
              <a:srgbClr val="14BDB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RETENTION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300" dirty="0">
                <a:solidFill>
                  <a:srgbClr val="14BD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A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  •  SQL  •  Power BI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51960" y="3749040"/>
            <a:ext cx="3657600" cy="4572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31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Customers  |  $233K Revenue  |  4 Segments  |  Feature Engineering &amp; BI Analytics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7548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54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47548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4754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66160" y="5349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47548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754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5349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47548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0D7377">
              <a:alpha val="40000"/>
            </a:srgbClr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4754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1,518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052560" y="5349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CVS</a:t>
            </a:r>
            <a:endParaRPr lang="en-US" sz="1100" dirty="0"/>
          </a:p>
        </p:txBody>
      </p:sp>
      <p:sp>
        <p:nvSpPr>
          <p:cNvPr id="21" name="Rectangle 20"/>
          <p:cNvSpPr/>
          <p:nvPr/>
        </p:nvSpPr>
        <p:spPr>
          <a:xfrm>
            <a:off x="9601200" y="6156809"/>
            <a:ext cx="2590800" cy="5794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latin typeface="Arial Black" panose="020B0A04020102020204" pitchFamily="34" charset="0"/>
              </a:rPr>
              <a:t>By SATHVIK N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37160" cy="5852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Customer Retention Matters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938528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0195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5–7× more than retaining an existing 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624328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734056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974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increase in customer retention can grow profits by 25–95%.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41985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3529584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300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contribute disproportionately to total revenue.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215384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4325112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8853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purchase behaviour enables targeted, cost-effective marketing.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5010912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5120640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8406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segmentation drives personalised retention strategies.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Retention Dimensions Analysed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17920" y="18745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87452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9110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Customers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377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Platinum &amp; Gold tier customers generating maximum revenue.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52560" y="18745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52560" y="187452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F43F5E">
              <a:alpha val="90000"/>
            </a:srgbClr>
          </a:solidFill>
          <a:ln w="12700">
            <a:solidFill>
              <a:srgbClr val="F43F5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19110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 Dependency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0" y="2377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customers who buy only with discounts vs organic buyers.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38862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88620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0D7377">
              <a:alpha val="90000"/>
            </a:srgbClr>
          </a:solidFill>
          <a:ln w="12700">
            <a:solidFill>
              <a:srgbClr val="0D7377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9227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Levels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43891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purchase frequency, subscription and engagement scores.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52560" y="38862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52560" y="388620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4F46E5">
              <a:alpha val="90000"/>
            </a:srgbClr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0" y="39227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0" y="43891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into VIP Loyalist, Growth, Bargain Hunter, Low Engagement.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2344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35440" y="12344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44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3544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14600"/>
            <a:ext cx="3566160" cy="384048"/>
          </a:xfrm>
          <a:prstGeom prst="roundRect">
            <a:avLst>
              <a:gd name="adj" fmla="val 2381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42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Attributes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97180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25146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2514600"/>
            <a:ext cx="3566160" cy="384048"/>
          </a:xfrm>
          <a:prstGeom prst="roundRect">
            <a:avLst>
              <a:gd name="adj" fmla="val 2381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2542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Information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297180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 (USD)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Purchased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25146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2514600"/>
            <a:ext cx="3566160" cy="384048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542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&amp; Loyalty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297180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Purchases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262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526280"/>
            <a:ext cx="3566160" cy="384048"/>
          </a:xfrm>
          <a:prstGeom prst="roundRect">
            <a:avLst>
              <a:gd name="adj" fmla="val 2381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53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&amp; Discounts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498348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 Used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45262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89120" y="4526280"/>
            <a:ext cx="3566160" cy="384048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4553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26280" y="498348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Band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657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533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 Treatment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Rating: median imputation applied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values in core transactional fields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Post-imputation: zero missing values across all 30 columns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188720"/>
            <a:ext cx="3657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32588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3533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Consistency Validation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19202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labels standardised: Bi-Weekly → Fortnightly, Every 3 Months → Quarterly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 validated for unique value integrity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range checks on Age, Purchase Amount, Review Rating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657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3258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0" y="13533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Normalisation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19202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applied to: Previous Purchases, Frequency Score, Review Rating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fields (suffix _N) used in composite scoring formulas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equal weight contribution across different scales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3657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0233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0507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Transformation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6177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Purchases mapped to numeric score (1–5 scale)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 encoded as binary (0/1)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 and Promo Code Used encoded as binary flags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657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4023360"/>
            <a:ext cx="502920" cy="5029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0507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for SQL &amp; Power BI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34840" y="46177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CSV exported to customer_features.csv (3,900 × 30)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created from processed file for query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connected to the same CSV as the single source of truth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3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features engineered from raw transactional data to enable customer segmentation and retention modelling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08760"/>
          <a:ext cx="11064240" cy="512064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3840480"/>
                <a:gridCol w="4114800"/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Feature Name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#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Purpose / Method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Business Meaning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Frequency Score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purchase frequency text → numeric (1–5 scale). Weekly=5, Fortnightly=4, Monthly=3, Quarterly=2, Annually=1.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numeric comparison of purchase engagement across all customers.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Loyalty Score V1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Composite: 0.4×PrevPurchases_N + 0.4×FreqScore_N + 0.2×ReviewRating_N. MinMax normalised inputs.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Ranks customers by historical loyalty behaviour on a 0–1 scale.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Loyalty Band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pd.qcut(Loyalty Score V1, q=4) → Low / Medium / High / Very High. Equal-frequency quartile split.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label for loyalty tier — used in dashboards and SQL.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Promo Dependency Level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flag: Promo Code Used == 'Yes' → High, else → Low. Derived from single behavioural field.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customers who purchase only with promotions — key for campaign targeting.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Customer Value Score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Amount (USD) × Previous Purchases. Captures both spend magnitude and repeat behaviour.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Monetary lifetime proxy — higher score = higher business value contribution.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Value Tier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pd.qcut(Customer Value Score, q=4) → Bronze / Silver / Gold / Platinum labels.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classification for loyalty programme design and reward allocation.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Customer Segment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Rule-based: Platinum → VIP Loyalist; High Promo → Bargain Hunter; Gold/Silver → Growth; else → Low Engagement.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segment for tailored retention strategy (4 actionable groups).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530352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3154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Tier Distribution: All 4 tiers (~975 each) confirm balanced qcut segmentation. Even split enables unbiased tier-specific campaigns.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35040" y="1097280"/>
            <a:ext cx="5806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143000"/>
            <a:ext cx="4297680" cy="2011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6480" y="315468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Dependency: 57% of customers are Low dependency (organic buyers), 43% are High (promo-driven). Majority do not require discounts to purchase.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0040" y="384048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886200"/>
            <a:ext cx="5303520" cy="20116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1480" y="58978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Band Distribution: ~692 customers per band (Low/Medium/High/Very High). Equal quartile split confirms no extreme loyalty skew in the dataset.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035040" y="3840480"/>
            <a:ext cx="58064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886200"/>
            <a:ext cx="5623560" cy="20116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26480" y="589788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by Segment: VIP Loyalists spend $79.66 avg vs Low Engagement at $49.05. Clear 60% revenue gap between best and worst-performing segments.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SQL-BASED BUSINESS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Answered Through SQL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0A2342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91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 Customer Segment Distribution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8424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"Customer Segment", COUNT(*) AS Customer_Count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customer_features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"Customer Segment"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264408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0A2342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3558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 Revenue by Category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648456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Category,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SUM("Purchase Amount (USD)") AS Revenue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customer_features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Category ORDER BY Revenue DESC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4928616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0A2342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50200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 Avg Spend per Segment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5312664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"Customer Segment",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ROUND(AVG("Purchase Amount (USD)"),2) AS Avg_Spend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customer_features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"Customer Segment"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Avg_Spend DESC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0972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Query Results &amp; Insights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00200"/>
          <a:ext cx="5440680" cy="4892041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2514600"/>
              </a:tblGrid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Metric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Value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Insight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Bargain Hunter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segment (32.5%)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 Loyalist Avg 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spender of all segments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$104,264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revenue category (44.7%)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Accessories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largest category (31.8%)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Promo 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 of customers buy organically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Across all 4 loyalty bands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7589520" cy="530352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92440" y="109728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92440" y="1097280"/>
            <a:ext cx="1097280" cy="960120"/>
          </a:xfrm>
          <a:prstGeom prst="roundRect">
            <a:avLst>
              <a:gd name="adj" fmla="val 7619"/>
            </a:avLst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234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281160" y="1188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3.9K, Revenue $233K, Avg Purchase $60, Avg CVS 1.52K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092440" y="219456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92440" y="2194560"/>
            <a:ext cx="1097280" cy="960120"/>
          </a:xfrm>
          <a:prstGeom prst="roundRect">
            <a:avLst>
              <a:gd name="adj" fmla="val 7619"/>
            </a:avLst>
          </a:prstGeom>
          <a:solidFill>
            <a:srgbClr val="4F46E5">
              <a:alpha val="8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2440" y="23317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Analysis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8116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chart: Bargain Hunter 32.5%, Growth 27.5%, VIP 25%, Low Eng 15%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92440" y="329184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92440" y="3291840"/>
            <a:ext cx="1097280" cy="960120"/>
          </a:xfrm>
          <a:prstGeom prst="roundRect">
            <a:avLst>
              <a:gd name="adj" fmla="val 7619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2440" y="34290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Distribution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281160" y="3383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bars: uniform spread across Low / Medium / High / Very High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92440" y="438912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92440" y="4389120"/>
            <a:ext cx="1097280" cy="960120"/>
          </a:xfrm>
          <a:prstGeom prst="roundRect">
            <a:avLst>
              <a:gd name="adj" fmla="val 7619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92440" y="4526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 Dependency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281160" y="44805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Pie: 57% Low dependency, 43% High — organic buyers dominate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92440" y="548640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092440" y="5486400"/>
            <a:ext cx="1097280" cy="960120"/>
          </a:xfrm>
          <a:prstGeom prst="roundRect">
            <a:avLst>
              <a:gd name="adj" fmla="val 7619"/>
            </a:avLst>
          </a:prstGeom>
          <a:solidFill>
            <a:srgbClr val="F43F5E">
              <a:alpha val="8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92440" y="5623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Tier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281160" y="5577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~975 customers per tier (Silver / Bronze / Platinum / Gold)</a:t>
            </a:r>
            <a:endParaRPr lang="en-US" sz="10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6" y="1234440"/>
            <a:ext cx="8015624" cy="478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findings from dataset analysis, SQL queries, EDA and Power BI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577840" cy="1600200"/>
          </a:xfrm>
          <a:prstGeom prst="roundRect">
            <a:avLst>
              <a:gd name="adj" fmla="val 5714"/>
            </a:avLst>
          </a:prstGeom>
          <a:solidFill>
            <a:srgbClr val="0D1B2E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502920" cy="5029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5361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Bargain Hunters Dominate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1,268 customers (32.5%), Bargain Hunters are the largest segment — driven by promo code usage rather than organic loyalty. This signals over-dependence on discount-led acquisition.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577840" cy="1600200"/>
          </a:xfrm>
          <a:prstGeom prst="roundRect">
            <a:avLst>
              <a:gd name="adj" fmla="val 5714"/>
            </a:avLst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67728" y="15361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 Loyalists Drive Premium Revenue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196596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Loyalists average $79.66 per purchase — 62% more than Low Engagement customers. They represent the highest ROI group for retention investment despite being only 25% of the base.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5577840" cy="1600200"/>
          </a:xfrm>
          <a:prstGeom prst="roundRect">
            <a:avLst>
              <a:gd name="adj" fmla="val 5714"/>
            </a:avLst>
          </a:prstGeom>
          <a:solidFill>
            <a:srgbClr val="0D1B2E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4612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27355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Buyers Majority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of customers (2,223) show Low promo dependency, indicating a strong base of purchase-intent-driven buyers who do not require discount incentives — a healthier revenue foundation.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108960"/>
            <a:ext cx="5577840" cy="1600200"/>
          </a:xfrm>
          <a:prstGeom prst="roundRect">
            <a:avLst>
              <a:gd name="adj" fmla="val 5714"/>
            </a:avLst>
          </a:prstGeom>
          <a:solidFill>
            <a:srgbClr val="0D1B2E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24612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67728" y="327355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Category Leads Revenue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370332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contributes $104,264 (44.7%) of total revenue, followed by Accessories at $74,200 (31.8%). Category-specific campaigns in Clothing &amp; Accessories offer highest revenue upside.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846320"/>
            <a:ext cx="5577840" cy="1600200"/>
          </a:xfrm>
          <a:prstGeom prst="roundRect">
            <a:avLst>
              <a:gd name="adj" fmla="val 5714"/>
            </a:avLst>
          </a:prstGeom>
          <a:solidFill>
            <a:srgbClr val="0D1B2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9834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5568" y="50109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Loyalty Distribution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544068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~692 customers per loyalty band (Low/Medium/High/Very High) shows no extreme skew. This signals opportunity across all tiers — not just top-end retention but also nurturing mid-tier.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846320"/>
            <a:ext cx="5577840" cy="1600200"/>
          </a:xfrm>
          <a:prstGeom prst="roundRect">
            <a:avLst>
              <a:gd name="adj" fmla="val 5714"/>
            </a:avLst>
          </a:prstGeom>
          <a:solidFill>
            <a:srgbClr val="0D1B2E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498348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67728" y="50109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Value Score Skew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544068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ranges from 21 to 5,000 (mean 1,518, std 1,117) — high variance confirms that a small Platinum tier generates disproportionate value. Top quartile (≥2,212) deserves premium treatment.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RETENTION PLAYBOOK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2471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 Loyalist   |   975 customers (25%)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394960" cy="301752"/>
          </a:xfrm>
          <a:prstGeom prst="roundRect">
            <a:avLst>
              <a:gd name="adj" fmla="val 18182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Retain &amp; deepen relationship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rewards programme with tiered benefits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to new product launches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membership with free expedited shipping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 for top 100 CVS customers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Anniversary/birthday personalised offers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09728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097280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12471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Customer   |   1,073 customers (27.5%)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5394960" cy="301752"/>
          </a:xfrm>
          <a:prstGeom prst="roundRect">
            <a:avLst>
              <a:gd name="adj" fmla="val 18182"/>
            </a:avLst>
          </a:prstGeom>
          <a:solidFill>
            <a:srgbClr val="0D7377">
              <a:alpha val="2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73736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Upgrade to VIP tier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1031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Cross-sell: Clothing + Accessories bundle campaigns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Upsell: Upgrade from Silver to Gold tier incentives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nurturing: Points multiplier months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 push for non-subscribers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Category-based personalised recommendations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4048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40480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86791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Bargain Hunter   |   1,268 customers (32.5%)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5394960" cy="301752"/>
          </a:xfrm>
          <a:prstGeom prst="roundRect">
            <a:avLst>
              <a:gd name="adj" fmla="val 18182"/>
            </a:avLst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8056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Reduce promo dependency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8463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seasonal discount campaigns (not blanket)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fatigue reduction: offer value-adds instead of % off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loyalty points to shift from discount to reward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sales targeted to specific purchase history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organic vs promo messaging response rates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84048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3840480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86791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Engagement   |   584 customers (15%)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4480560"/>
            <a:ext cx="5394960" cy="301752"/>
          </a:xfrm>
          <a:prstGeom prst="roundRect">
            <a:avLst>
              <a:gd name="adj" fmla="val 18182"/>
            </a:avLst>
          </a:prstGeom>
          <a:solidFill>
            <a:srgbClr val="4F46E5">
              <a:alpha val="2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48056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Reactivate or exit gracefully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8463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email series: 'We miss you' personalised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with their top browsed categories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one-time 20% offer to reactivate purchases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to understand drop-off reasons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intent analysis to prevent further churn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337560" y="841248"/>
            <a:ext cx="5486400" cy="4572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0D1B2E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records, 30 features — clean data with zero missing values post-imputation. Covers demographics, purchase behaviour, payment preferences and subscription status.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0972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481328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analytical features engineered: Frequency Score, Loyalty Score, Loyalty Band, Promo Dependency Level, Customer Value Score, Value Tier and Customer Segment.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0D1B2E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6060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Insights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990088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SQL queries validated all EDA findings. Bargain Hunters lead in count (1,268); Clothing leads in revenue ($104K); VIP Loyalists lead in spend ($79.66 avg).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51460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0D1B2E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6060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Findings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990088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KPIs: $233K total revenue, $59.76 avg purchase, 1,518 avg CVS. Interactive slicers allow segment-level drill-down for marketing teams.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114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D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D1B2E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463040" y="466344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5303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Prediction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669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(XGBoost, LightGBM) to predict 30/60/90-day churn probability per customer.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45720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46634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5303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CLV Prediction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5669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regression to quantify long-term revenue contribution per segment.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5720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D1B2E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0" y="466344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5303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Recommender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5669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for personalised product recommendations from purchase history.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0" y="45720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D1B2E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41280" y="4663440"/>
            <a:ext cx="548640" cy="5486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5303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Analytics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35440" y="5669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 (Kafka + Power BI) for live KPI monitoring and instant segment alerts.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1955</Words>
  <Application>Microsoft Office PowerPoint</Application>
  <PresentationFormat>Widescreen</PresentationFormat>
  <Paragraphs>267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Retention Analytics Dashboard</dc:title>
  <dc:subject>PptxGenJS Presentation</dc:subject>
  <dc:creator>Sathvik</dc:creator>
  <cp:lastModifiedBy>Microsoft account</cp:lastModifiedBy>
  <cp:revision>3</cp:revision>
  <dcterms:created xsi:type="dcterms:W3CDTF">2026-06-11T09:40:51Z</dcterms:created>
  <dcterms:modified xsi:type="dcterms:W3CDTF">2026-06-11T13:54:36Z</dcterms:modified>
</cp:coreProperties>
</file>